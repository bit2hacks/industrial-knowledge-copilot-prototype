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41B45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645920"/>
            <a:ext cx="5029200" cy="502920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9659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INDUSTRIAL KNOWLEDGE INTELLIGENCE CHALLENGE  ·  EXPERT KNOWLEDGE COPILOT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Industrial Knowledge Copilot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8961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RAG-powered assistant that turns fragmented plant documentation — P&amp;IDs, work orders, SOPs, inspection reports, compliance filings — into one cited, mobile-ready knowledge base for field technicians and engineers.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4572000"/>
            <a:ext cx="2926080" cy="0"/>
          </a:xfrm>
          <a:prstGeom prst="line">
            <a:avLst/>
          </a:prstGeom>
          <a:noFill/>
          <a:ln w="25400">
            <a:solidFill>
              <a:srgbClr val="F299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709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 ·  Architecture  ·  Methods  ·  Demo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6263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github.com/&lt;your-username&gt;/knowledge-copilot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Plant knowledge is fragmented — and it's costing safety, quality, and uptime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1F36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64792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60604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working hours lost searching for information or recreating documents that already exist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1F36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64792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7–12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537960" y="260604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document systems at the average large plant — P&amp;IDs, work orders, SOPs, inspections, email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1F36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050792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18–22%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22960" y="489204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unplanned downtime traced to maintenance decisions made without full equipment history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886200"/>
            <a:ext cx="5257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  <a:effectLst>
            <a:outerShdw sx="100000" sy="100000" kx="0" ky="0" algn="bl" rotWithShape="0" blurRad="101600" dist="25400" dir="5400000">
              <a:srgbClr val="1A1F36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37960" y="4050792"/>
            <a:ext cx="4709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29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537960" y="489204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India's experienced industrial engineers and operators retire within the next decade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263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McKinsey Global Survey (2024); NASSCOM–EY manufacturing &amp; energy study; BIS Research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Knowledge Copilot  ·  Expert Knowledge Copilot Track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copilot, every document format, answers you can verify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Expert Knowledge Copilot ingests P&amp;IDs, maintenance records, SOPs, inspection reports, and compliance filings into a single searchable index — and answers operational questions with the source, a confidence score, and a live link back to the original document.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88720" y="2834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Heterogeneous ingestion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3136392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scanned forms, spreadsheets, email, and photos — not just clean text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776472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7764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373075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for field staff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4032504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responsive chat UI a technician can use on a phone, not just an engineer at a desk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672584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6725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462686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 trust signals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88720" y="4928616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carries citations, a confidence score, and a link to the source document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556869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5686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88720" y="552297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tacit knowledge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5824728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corrections are stored and resurfaced — a hedge against the retirement wave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0" y="1554480"/>
            <a:ext cx="4754880" cy="4663440"/>
          </a:xfrm>
          <a:prstGeom prst="roundRect">
            <a:avLst>
              <a:gd name="adj" fmla="val 1961"/>
            </a:avLst>
          </a:prstGeom>
          <a:solidFill>
            <a:srgbClr val="141B45"/>
          </a:solidFill>
          <a:ln/>
        </p:spPr>
      </p:sp>
      <p:sp>
        <p:nvSpPr>
          <p:cNvPr id="22" name="Text 20"/>
          <p:cNvSpPr/>
          <p:nvPr/>
        </p:nvSpPr>
        <p:spPr>
          <a:xfrm>
            <a:off x="7178040" y="17830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question, answered end to end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321040" y="2331720"/>
            <a:ext cx="30175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8321040" y="2331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did pump P-101A fail?”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78040" y="306324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7360920" y="3227832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DFF5E6"/>
          </a:solidFill>
          <a:ln/>
        </p:spPr>
      </p:sp>
      <p:sp>
        <p:nvSpPr>
          <p:cNvPr id="27" name="Text 25"/>
          <p:cNvSpPr/>
          <p:nvPr/>
        </p:nvSpPr>
        <p:spPr>
          <a:xfrm>
            <a:off x="7360920" y="322783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7360920" y="35661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Bearing wear from coupling misalignment during last overhaul, undetected for 5 months.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360920" y="41148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work_order_4521.txt  ·  inspection_report_089.txt  ·  sop_22.txt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178040" y="47548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Cross-document corroboration drives both the answer and its confidence score.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Knowledge Copilot  ·  Expert Knowledge Copilot Track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stages, one continuously updated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8A94A6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1801368"/>
            <a:ext cx="15453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21792" y="2313432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P&amp;IDs, work orders,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SOPs, inspections, email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212848" y="2235708"/>
            <a:ext cx="201168" cy="146304"/>
          </a:xfrm>
          <a:prstGeom prst="rightArrow">
            <a:avLst/>
          </a:prstGeom>
          <a:solidFill>
            <a:srgbClr val="C7CCD6"/>
          </a:solidFill>
          <a:ln/>
        </p:spPr>
      </p:sp>
      <p:sp>
        <p:nvSpPr>
          <p:cNvPr id="8" name="Shape 6"/>
          <p:cNvSpPr/>
          <p:nvPr/>
        </p:nvSpPr>
        <p:spPr>
          <a:xfrm>
            <a:off x="2386584" y="169164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5B8DEF"/>
          </a:solidFill>
          <a:ln/>
        </p:spPr>
      </p:sp>
      <p:sp>
        <p:nvSpPr>
          <p:cNvPr id="9" name="Text 7"/>
          <p:cNvSpPr/>
          <p:nvPr/>
        </p:nvSpPr>
        <p:spPr>
          <a:xfrm>
            <a:off x="2459736" y="1801368"/>
            <a:ext cx="15453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459736" y="2313432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OCR, table parsing,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entity/tag extraction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050792" y="2235708"/>
            <a:ext cx="201168" cy="146304"/>
          </a:xfrm>
          <a:prstGeom prst="rightArrow">
            <a:avLst/>
          </a:prstGeom>
          <a:solidFill>
            <a:srgbClr val="C7CCD6"/>
          </a:solidFill>
          <a:ln/>
        </p:spPr>
      </p:sp>
      <p:sp>
        <p:nvSpPr>
          <p:cNvPr id="12" name="Shape 10"/>
          <p:cNvSpPr/>
          <p:nvPr/>
        </p:nvSpPr>
        <p:spPr>
          <a:xfrm>
            <a:off x="4224528" y="169164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5B8DEF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1801368"/>
            <a:ext cx="15453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297680" y="2313432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chunks +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metadata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888736" y="2235708"/>
            <a:ext cx="201168" cy="146304"/>
          </a:xfrm>
          <a:prstGeom prst="rightArrow">
            <a:avLst/>
          </a:prstGeom>
          <a:solidFill>
            <a:srgbClr val="C7CCD6"/>
          </a:solidFill>
          <a:ln/>
        </p:spPr>
      </p:sp>
      <p:sp>
        <p:nvSpPr>
          <p:cNvPr id="16" name="Shape 14"/>
          <p:cNvSpPr/>
          <p:nvPr/>
        </p:nvSpPr>
        <p:spPr>
          <a:xfrm>
            <a:off x="6062472" y="169164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135624" y="1801368"/>
            <a:ext cx="15453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135624" y="2313432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 +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graph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726680" y="2235708"/>
            <a:ext cx="201168" cy="146304"/>
          </a:xfrm>
          <a:prstGeom prst="rightArrow">
            <a:avLst/>
          </a:prstGeom>
          <a:solidFill>
            <a:srgbClr val="C7CCD6"/>
          </a:solidFill>
          <a:ln/>
        </p:spPr>
      </p:sp>
      <p:sp>
        <p:nvSpPr>
          <p:cNvPr id="20" name="Shape 18"/>
          <p:cNvSpPr/>
          <p:nvPr/>
        </p:nvSpPr>
        <p:spPr>
          <a:xfrm>
            <a:off x="7900416" y="169164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2994A"/>
          </a:solidFill>
          <a:ln/>
        </p:spPr>
      </p:sp>
      <p:sp>
        <p:nvSpPr>
          <p:cNvPr id="21" name="Text 19"/>
          <p:cNvSpPr/>
          <p:nvPr/>
        </p:nvSpPr>
        <p:spPr>
          <a:xfrm>
            <a:off x="7973568" y="1801368"/>
            <a:ext cx="15453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&amp;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973568" y="2313432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search,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rerank, routing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564624" y="2235708"/>
            <a:ext cx="201168" cy="146304"/>
          </a:xfrm>
          <a:prstGeom prst="rightArrow">
            <a:avLst/>
          </a:prstGeom>
          <a:solidFill>
            <a:srgbClr val="C7CCD6"/>
          </a:solidFill>
          <a:ln/>
        </p:spPr>
      </p:sp>
      <p:sp>
        <p:nvSpPr>
          <p:cNvPr id="24" name="Shape 22"/>
          <p:cNvSpPr/>
          <p:nvPr/>
        </p:nvSpPr>
        <p:spPr>
          <a:xfrm>
            <a:off x="9738360" y="1691640"/>
            <a:ext cx="1691640" cy="1234440"/>
          </a:xfrm>
          <a:prstGeom prst="roundRect">
            <a:avLst>
              <a:gd name="adj" fmla="val 5926"/>
            </a:avLst>
          </a:prstGeom>
          <a:solidFill>
            <a:srgbClr val="F2994A"/>
          </a:solidFill>
          <a:ln/>
        </p:spPr>
      </p:sp>
      <p:sp>
        <p:nvSpPr>
          <p:cNvPr id="25" name="Text 23"/>
          <p:cNvSpPr/>
          <p:nvPr/>
        </p:nvSpPr>
        <p:spPr>
          <a:xfrm>
            <a:off x="9811512" y="1801368"/>
            <a:ext cx="154533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811512" y="2313432"/>
            <a:ext cx="15453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citations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confidence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897880" y="2999232"/>
            <a:ext cx="182880" cy="320040"/>
          </a:xfrm>
          <a:prstGeom prst="downArrow">
            <a:avLst/>
          </a:prstGeom>
          <a:solidFill>
            <a:srgbClr val="C7CCD6"/>
          </a:solidFill>
          <a:ln/>
        </p:spPr>
      </p:sp>
      <p:sp>
        <p:nvSpPr>
          <p:cNvPr id="28" name="Shape 26"/>
          <p:cNvSpPr/>
          <p:nvPr/>
        </p:nvSpPr>
        <p:spPr>
          <a:xfrm>
            <a:off x="2194560" y="3429000"/>
            <a:ext cx="7772400" cy="822960"/>
          </a:xfrm>
          <a:prstGeom prst="roundRect">
            <a:avLst>
              <a:gd name="adj" fmla="val 11111"/>
            </a:avLst>
          </a:prstGeom>
          <a:solidFill>
            <a:srgbClr val="141B45"/>
          </a:solidFill>
          <a:ln/>
        </p:spPr>
      </p:sp>
      <p:sp>
        <p:nvSpPr>
          <p:cNvPr id="29" name="Text 27"/>
          <p:cNvSpPr/>
          <p:nvPr/>
        </p:nvSpPr>
        <p:spPr>
          <a:xfrm>
            <a:off x="2468880" y="3538728"/>
            <a:ext cx="7223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&amp; desktop interfaces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2468880" y="3849624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 chat for technicians in the field  ·  full source/knowledge-graph view for engineers at a desk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5720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8A94A6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4526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697480" y="45720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5B8DEF"/>
          </a:solidFill>
          <a:ln/>
        </p:spPr>
      </p:sp>
      <p:sp>
        <p:nvSpPr>
          <p:cNvPr id="34" name="Text 32"/>
          <p:cNvSpPr/>
          <p:nvPr/>
        </p:nvSpPr>
        <p:spPr>
          <a:xfrm>
            <a:off x="2971800" y="4526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45720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4526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995160" y="45720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2994A"/>
          </a:solidFill>
          <a:ln/>
        </p:spPr>
      </p:sp>
      <p:sp>
        <p:nvSpPr>
          <p:cNvPr id="38" name="Text 36"/>
          <p:cNvSpPr/>
          <p:nvPr/>
        </p:nvSpPr>
        <p:spPr>
          <a:xfrm>
            <a:off x="7269480" y="45262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/ generation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Knowledge Copilot  ·  Expert Knowledge Copilot Track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runs at each layer of the prototype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57200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42062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 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Format-specific extraction; OCR fallback for scans/photos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pdfplumber, python-docx, Pillow + Tesseract OCR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Paragraph-aware splitting with sliding overlap; regex entity tagging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Python (core/chunking.py)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store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vector index of chunks; tag co-reference graph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 TF-IDF matrix + in-memory entity graph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similarity search, boosted by exact equipment-tag matches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 cosine_similarity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scoring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score from match strength + cross-document corroboration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heuristic (core/index.py)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Extractive by default; grounded LLM synthesis when enabled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extraction, or Claude via Anthropic API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 loop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corrections stored and resurfaced on repeat queries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JSON-backed store (core/feedback.py)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Responsive chat UI, works unmodified on a phone browser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Flask + vanilla HTML/CSS/JS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Knowledge Copilot  ·  Expert Knowledge Copilot Track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LLM is used — and why the default needs none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F6F7FA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96596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8A94A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65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· NO LLM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Extractive answering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4800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cosine similarity retrieval over indexed chunks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Top-matching sentences stitched into a readable answer, each tagged with its source document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fully offline — no API key, no network call, no per-query cost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the demo works anywhere, including with no internet at the venue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349240" cy="4297680"/>
          </a:xfrm>
          <a:prstGeom prst="roundRect">
            <a:avLst>
              <a:gd name="adj" fmla="val 2128"/>
            </a:avLst>
          </a:prstGeom>
          <a:solidFill>
            <a:srgbClr val="141B45"/>
          </a:solidFill>
          <a:ln/>
        </p:spPr>
      </p:sp>
      <p:sp>
        <p:nvSpPr>
          <p:cNvPr id="10" name="Shape 8"/>
          <p:cNvSpPr/>
          <p:nvPr/>
        </p:nvSpPr>
        <p:spPr>
          <a:xfrm>
            <a:off x="6537960" y="196596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9659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· LLM-POWERED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37960" y="24688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(Anthropic API)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60" y="2880360"/>
            <a:ext cx="480060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by setting an ANTHROPIC_API_KEY — no code change needed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 chunks are passed as context; the model is instructed to answer only from that context and cite the source document inline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told to say “not enough information” rather than guess — critical for safety-related answers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extractive mode automatically if the API call fails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Knowledge Copilot  ·  Expert Knowledge Copilot Track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LAYER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Confidence is calculated, not decorative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scores its own reliability from two signals — so a technician knows when to double-check before acting.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41B4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945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29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  =  0.7 × (best match score ÷ 0.5)  +  0.15 × (distinct source documents − 1)  +  0.3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379476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1F8A4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794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8A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0.75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48463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lexical/tag match, corroborated by multiple independent documents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97680" y="352044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379476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B089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3794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4389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08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0.50–0.75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0" y="48463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match, but from a single source or partial coverage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3520440"/>
            <a:ext cx="356616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379476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8321040" y="3794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4389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0.50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321040" y="484632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match — surfaced with a caveat rather than presented as certain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Knowledge Copilot  ·  Expert Knowledge Copilot Track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RETENTION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Capturing tacit knowledge before it retires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India's experienced industrial engineers retire within a decade. The feedback loop below turns their corrections into permanent, reusable answers — not just document search.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6F7FA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743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3375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answers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68503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indexed document corpus, with a confidence score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36392" y="3401568"/>
            <a:ext cx="265176" cy="146304"/>
          </a:xfrm>
          <a:prstGeom prst="rightArrow">
            <a:avLst/>
          </a:prstGeom>
          <a:solidFill>
            <a:srgbClr val="C7CCD6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25146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6F7FA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2743200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11880" y="33375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reviews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11880" y="368503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engineer flags an answer as wrong or incomplete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71032" y="3401568"/>
            <a:ext cx="265176" cy="146304"/>
          </a:xfrm>
          <a:prstGeom prst="rightArrow">
            <a:avLst/>
          </a:prstGeom>
          <a:solidFill>
            <a:srgbClr val="C7CCD6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25146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6F7FA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274320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46520" y="33375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captured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6520" y="368503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corrected answer is logged against that exact question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805672" y="3401568"/>
            <a:ext cx="265176" cy="146304"/>
          </a:xfrm>
          <a:prstGeom prst="rightArrow">
            <a:avLst/>
          </a:prstGeom>
          <a:solidFill>
            <a:srgbClr val="C7CCD6"/>
          </a:solidFill>
          <a:ln/>
        </p:spPr>
      </p:sp>
      <p:sp>
        <p:nvSpPr>
          <p:cNvPr id="23" name="Shape 21"/>
          <p:cNvSpPr/>
          <p:nvPr/>
        </p:nvSpPr>
        <p:spPr>
          <a:xfrm>
            <a:off x="9052560" y="2514600"/>
            <a:ext cx="2606040" cy="1920240"/>
          </a:xfrm>
          <a:prstGeom prst="roundRect">
            <a:avLst>
              <a:gd name="adj" fmla="val 4762"/>
            </a:avLst>
          </a:prstGeom>
          <a:solidFill>
            <a:srgbClr val="F6F7FA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81160" y="2743200"/>
            <a:ext cx="457200" cy="457200"/>
          </a:xfrm>
          <a:prstGeom prst="ellipse">
            <a:avLst/>
          </a:prstGeom>
          <a:solidFill>
            <a:srgbClr val="F2994A"/>
          </a:solidFill>
          <a:ln/>
        </p:spPr>
      </p:sp>
      <p:sp>
        <p:nvSpPr>
          <p:cNvPr id="25" name="Text 23"/>
          <p:cNvSpPr/>
          <p:nvPr/>
        </p:nvSpPr>
        <p:spPr>
          <a:xfrm>
            <a:off x="928116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81160" y="33375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Resurfaced next time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81160" y="3685032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or a similar question gets the expert-verified answer first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47548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in core/feedback.py — a JSON-backed store today; drop-in replacement for a real database as usage scales.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Knowledge Copilot  ·  Expert Knowledge Copilot Track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field, not just the control room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943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responsive layout — the same UI works unmodified on a phone browser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technicians can photograph a paper checklist or scanned form and upload it directly — OCR ingests it on the spot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terse-by-default with tap-to-expand sources, designed for a small screen and a gloved hand</a:t>
            </a:r>
            <a:endParaRPr lang="en-US" sz="135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at a desk get the same data with fuller source context and the entity/knowledge-graph view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955280" y="1371600"/>
            <a:ext cx="2651760" cy="4937760"/>
          </a:xfrm>
          <a:prstGeom prst="roundRect">
            <a:avLst>
              <a:gd name="adj" fmla="val 12069"/>
            </a:avLst>
          </a:prstGeom>
          <a:solidFill>
            <a:srgbClr val="0D1230"/>
          </a:solidFill>
          <a:ln w="19050">
            <a:solidFill>
              <a:srgbClr val="8A94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1737360"/>
            <a:ext cx="2377440" cy="4206240"/>
          </a:xfrm>
          <a:prstGeom prst="roundRect">
            <a:avLst>
              <a:gd name="adj" fmla="val 3846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0" y="18745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Knowledge Copilot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549640" y="228600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5B8DEF"/>
          </a:solidFill>
          <a:ln/>
        </p:spPr>
      </p:sp>
      <p:sp>
        <p:nvSpPr>
          <p:cNvPr id="9" name="Text 7"/>
          <p:cNvSpPr/>
          <p:nvPr/>
        </p:nvSpPr>
        <p:spPr>
          <a:xfrm>
            <a:off x="8549640" y="22860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P-101A fail?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229600" y="2880360"/>
            <a:ext cx="182880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2999232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F8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8366760" y="3246120"/>
            <a:ext cx="1554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Bearing wear from coupling misalignment, undetected for 5 months.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8229600" y="4251960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1A205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42519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Upload photo of checklist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Knowledge Copilot  ·  Expert Knowledge Copilot Track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hackathon prototype to production system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2402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40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retrieval, extractive answers, offline-first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36392" y="3584448"/>
            <a:ext cx="265176" cy="146304"/>
          </a:xfrm>
          <a:prstGeom prst="rightArrow">
            <a:avLst/>
          </a:prstGeom>
          <a:solidFill>
            <a:srgbClr val="C7CCD6"/>
          </a:solidFill>
          <a:ln/>
        </p:spPr>
      </p:sp>
      <p:sp>
        <p:nvSpPr>
          <p:cNvPr id="9" name="Shape 7"/>
          <p:cNvSpPr/>
          <p:nvPr/>
        </p:nvSpPr>
        <p:spPr>
          <a:xfrm>
            <a:off x="3383280" y="201168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11880" y="22402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5B8DEF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240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11880" y="278892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in embeddings + a vector DB (Qdrant / pgvector) for semantic recall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71032" y="3584448"/>
            <a:ext cx="265176" cy="146304"/>
          </a:xfrm>
          <a:prstGeom prst="rightArrow">
            <a:avLst/>
          </a:prstGeom>
          <a:solidFill>
            <a:srgbClr val="C7CCD6"/>
          </a:solidFill>
          <a:ln/>
        </p:spPr>
      </p:sp>
      <p:sp>
        <p:nvSpPr>
          <p:cNvPr id="14" name="Shape 12"/>
          <p:cNvSpPr/>
          <p:nvPr/>
        </p:nvSpPr>
        <p:spPr>
          <a:xfrm>
            <a:off x="6217920" y="201168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22402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F2994A"/>
          </a:solidFill>
          <a:ln/>
        </p:spPr>
      </p:sp>
      <p:sp>
        <p:nvSpPr>
          <p:cNvPr id="16" name="Text 14"/>
          <p:cNvSpPr/>
          <p:nvPr/>
        </p:nvSpPr>
        <p:spPr>
          <a:xfrm>
            <a:off x="6446520" y="2240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46520" y="278892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the tag graph into a real knowledge graph (Neo4j) for multi-hop queries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05672" y="3584448"/>
            <a:ext cx="265176" cy="146304"/>
          </a:xfrm>
          <a:prstGeom prst="rightArrow">
            <a:avLst/>
          </a:prstGeom>
          <a:solidFill>
            <a:srgbClr val="C7CCD6"/>
          </a:solidFill>
          <a:ln/>
        </p:spPr>
      </p:sp>
      <p:sp>
        <p:nvSpPr>
          <p:cNvPr id="19" name="Shape 17"/>
          <p:cNvSpPr/>
          <p:nvPr/>
        </p:nvSpPr>
        <p:spPr>
          <a:xfrm>
            <a:off x="9052560" y="201168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2700">
            <a:solidFill>
              <a:srgbClr val="E2E5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81160" y="224028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8A94A6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2240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81160" y="2788920"/>
            <a:ext cx="2148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into RCA and compliance-evidence agents on the same ingestion layer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Knowledge Copilot  ·  Expert Knowledge Copilot Track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5029200" cy="502920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prototype, ready to run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2994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013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303520" y="1801368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 + 5 interlinked sample documents, tested end to end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2994A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4231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diagram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0" y="24231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Seven-stage pipeline, this deck (slide 4)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118104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2994A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044952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deck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044952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document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39896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F2994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66674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03520" y="3666744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engineer query + mobile field-technician query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526280"/>
            <a:ext cx="11064240" cy="0"/>
          </a:xfrm>
          <a:prstGeom prst="line">
            <a:avLst/>
          </a:prstGeom>
          <a:noFill/>
          <a:ln w="12700">
            <a:solidFill>
              <a:srgbClr val="2A32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5029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9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github.com/&lt;your-username&gt;/knowledge-copilot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Knowledge Copilot  ·  Expert Knowledge Copilot Track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BF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2026-07-12T04:10:39Z</dcterms:created>
  <dcterms:modified xsi:type="dcterms:W3CDTF">2026-07-12T04:10:39Z</dcterms:modified>
</cp:coreProperties>
</file>